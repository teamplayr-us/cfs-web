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— swap title, subtitle, presenter, date. The kicker is the series positioning line; keep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SECTION DIVIDER — update number and title; duplicate per section.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STATEMENT — one claim per slide, exactly one pink phrase.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AGENDA — 3 to 5 rows; delete unused rows and their divider lines.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CONTENT + VISUAL — replace the placeholder card with a photo, chart, or graphic; keep the pink offset shadow.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 — swap in an action photo; keep the pink offset shadow.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QUOTE — coach/parent/athlete/partner testimonial. Get permission before quoting.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PACK DIVIDER — keep only the pack(s) this presentation needs; delete unused packs including this divider.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INVESTOR / OPPORTUNITY — one dominant number, three supporting chips. The samples are real facts (Aug 2026); verify before presenting.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INVESTOR / TRACTION — three metric tiles + a chart. Registrations, committed colleges, teams, cities: whatever is real and current.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INVESTOR / ASK — the raise, what it funds, allocation bars. Set each bar's width to the real proportion.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PACK DIVIDER — keep only the pack(s) this presentation needs; delete unused packs including this divider.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PARTNERSHIP / TIERS — pull real tier names and pricing from the sponsorship one-pager; never invent pricing.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PARTNERSHIP / REACH — four audience stats over a placement visual. Only stats you can defend.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PARTNERSHIP / ACTIVATION — pink check squares (brand motif) + full-pink CTA band, the one allowed pink wash.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PACK DIVIDER — keep only the pack(s) this presentation needs; delete unused packs including this divider.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EDUCATION / HOW IT WORKS — the two panels carry current approved copy; keep in sync with the site and one-pagers.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EDUCATION / PROCESS — up to four steps with arrows. For three steps, delete the last card and re-center.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EDUCATION / Q&amp;A — point the room at the FAQ page; log repeated questions as design defects (Experience Standard 5).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CLOSING — swap the CTA per audience: investors get the ask, partners the next step, education where to learn more.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16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432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1148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54864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pic>
        <p:nvPicPr>
          <p:cNvPr id="6" name="Image 0" descr="/home/user/cfs-web/collateral/slide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502920"/>
            <a:ext cx="1234440" cy="12344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48640" y="21488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2D8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GIRLS FLAG FOOTBALL · NATIONAL RECRUITING SERIES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502920" y="2468880"/>
            <a:ext cx="111556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7F5F6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Presentation </a:t>
            </a:r>
            <a:pPr indent="0" marL="0">
              <a:buNone/>
            </a:pPr>
            <a:r>
              <a:rPr lang="en-US" sz="8000" b="1" dirty="0">
                <a:solidFill>
                  <a:srgbClr val="FF2D8E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Title.</a:t>
            </a:r>
            <a:endParaRPr lang="en-US" sz="8000" dirty="0"/>
          </a:p>
        </p:txBody>
      </p:sp>
      <p:sp>
        <p:nvSpPr>
          <p:cNvPr id="9" name="Text 6"/>
          <p:cNvSpPr/>
          <p:nvPr/>
        </p:nvSpPr>
        <p:spPr>
          <a:xfrm>
            <a:off x="548640" y="448056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8A848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Subtitle or one-line description of this presentation goes here.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48640" y="59893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84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PRESENTER NAME  ·  MONTH 2026  ·  COLLEGEFLAGSHOWCASE.COM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16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432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1148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54864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55448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spc="600" kern="0" dirty="0">
                <a:solidFill>
                  <a:srgbClr val="FF2D8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502920" y="2468880"/>
            <a:ext cx="11155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7F5F6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Section Title.</a:t>
            </a:r>
            <a:endParaRPr lang="en-US" sz="7200" dirty="0"/>
          </a:p>
        </p:txBody>
      </p:sp>
      <p:sp>
        <p:nvSpPr>
          <p:cNvPr id="8" name="Text 6"/>
          <p:cNvSpPr/>
          <p:nvPr/>
        </p:nvSpPr>
        <p:spPr>
          <a:xfrm>
            <a:off x="548640" y="42062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8A848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One line on what this section covers.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118311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A84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84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COLLEGE FLAG SHOWCASE SERIES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16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432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1148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54864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4114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2D8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BIG IDEA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1828800"/>
            <a:ext cx="111556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2000"/>
              </a:lnSpc>
              <a:buNone/>
            </a:pPr>
            <a:r>
              <a:rPr lang="en-US" sz="5400" b="1" dirty="0">
                <a:solidFill>
                  <a:srgbClr val="F7F5F6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A bold one-sentence claim, with the </a:t>
            </a:r>
            <a:pPr indent="0" marL="0">
              <a:lnSpc>
                <a:spcPct val="102000"/>
              </a:lnSpc>
              <a:buNone/>
            </a:pPr>
            <a:r>
              <a:rPr lang="en-US" sz="5400" b="1" dirty="0">
                <a:solidFill>
                  <a:srgbClr val="FF2D8E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key phrase</a:t>
            </a:r>
            <a:pPr indent="0" marL="0">
              <a:lnSpc>
                <a:spcPct val="102000"/>
              </a:lnSpc>
              <a:buNone/>
            </a:pPr>
            <a:r>
              <a:rPr lang="en-US" sz="5400" b="1" dirty="0">
                <a:solidFill>
                  <a:srgbClr val="F7F5F6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 in pink.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1118311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A84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84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COLLEGE FLAG SHOWCASE SERIES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2D8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0A0B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What We Will Cover.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14884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2D8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1463040" y="2112264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0A0B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First agenda item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498080" y="214884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A5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One supporting line about this item.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834640"/>
            <a:ext cx="11091672" cy="13716"/>
          </a:xfrm>
          <a:prstGeom prst="rect">
            <a:avLst/>
          </a:prstGeom>
          <a:solidFill>
            <a:srgbClr val="E6E2E5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20040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2D8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63040" y="3163824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0A0B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Second agenda item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7498080" y="320040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A5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One supporting line about this item.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886200"/>
            <a:ext cx="11091672" cy="13716"/>
          </a:xfrm>
          <a:prstGeom prst="rect">
            <a:avLst/>
          </a:prstGeom>
          <a:solidFill>
            <a:srgbClr val="E6E2E5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2519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2D8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63040" y="4215384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0A0B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Third agenda item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7498080" y="42519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A5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One supporting line about this item.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937760"/>
            <a:ext cx="11091672" cy="13716"/>
          </a:xfrm>
          <a:prstGeom prst="rect">
            <a:avLst/>
          </a:prstGeom>
          <a:solidFill>
            <a:srgbClr val="E6E2E5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530352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2D8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463040" y="5266944"/>
            <a:ext cx="5852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A0A0B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Fourth agenda item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498080" y="530352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5A5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One supporting line about this item.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5989320"/>
            <a:ext cx="11091672" cy="13716"/>
          </a:xfrm>
          <a:prstGeom prst="rect">
            <a:avLst/>
          </a:prstGeom>
          <a:solidFill>
            <a:srgbClr val="E6E2E5"/>
          </a:solidFill>
          <a:ln/>
        </p:spPr>
      </p:sp>
      <p:sp>
        <p:nvSpPr>
          <p:cNvPr id="20" name="Text 18"/>
          <p:cNvSpPr/>
          <p:nvPr/>
        </p:nvSpPr>
        <p:spPr>
          <a:xfrm>
            <a:off x="1118311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5C5A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04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5C5A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COLLEGE FLAG SHOWCASE SERIES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2D8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SECTION · TOPIC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0A0B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Content Slide Title.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585216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0A0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Lead sentence makes the point of the slide in bold.</a:t>
            </a:r>
            <a:endParaRPr lang="en-US" sz="1500" dirty="0"/>
          </a:p>
          <a:p>
            <a:pPr indent="0" marL="0">
              <a:buNone/>
            </a:pP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A0A0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Supporting bullet expands on the point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0A0A0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Second supporting bullet with detail</a:t>
            </a:r>
            <a:endParaRPr lang="en-US" sz="1500" dirty="0"/>
          </a:p>
          <a:p>
            <a:pPr marL="342900" indent="-342900">
              <a:buSzPct val="100000"/>
              <a:buChar char="•"/>
            </a:pPr>
            <a:r>
              <a:rPr lang="en-US" sz="1500" dirty="0">
                <a:solidFill>
                  <a:srgbClr val="0A0A0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Third supporting bullet with detail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123176" y="2093976"/>
            <a:ext cx="4572000" cy="3931920"/>
          </a:xfrm>
          <a:prstGeom prst="rect">
            <a:avLst/>
          </a:prstGeom>
          <a:solidFill>
            <a:srgbClr val="FF2D8E"/>
          </a:solidFill>
          <a:ln/>
        </p:spPr>
      </p:sp>
      <p:sp>
        <p:nvSpPr>
          <p:cNvPr id="6" name="Shape 4"/>
          <p:cNvSpPr/>
          <p:nvPr/>
        </p:nvSpPr>
        <p:spPr>
          <a:xfrm>
            <a:off x="7040880" y="2011680"/>
            <a:ext cx="4572000" cy="3931920"/>
          </a:xfrm>
          <a:prstGeom prst="rect">
            <a:avLst/>
          </a:prstGeom>
          <a:solidFill>
            <a:srgbClr val="FFFFFF"/>
          </a:solidFill>
          <a:ln w="31750">
            <a:solidFill>
              <a:srgbClr val="0A0A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040880" y="2011680"/>
            <a:ext cx="4572000" cy="3931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5C5A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DROP IMAGE, CHART,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spc="300" kern="0" dirty="0">
                <a:solidFill>
                  <a:srgbClr val="5C5A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OR GRAPHIC HERE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118311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5C5A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05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5C5A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COLLEGE FLAG SHOWCASE SERIES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0936" y="630936"/>
            <a:ext cx="11091672" cy="4892040"/>
          </a:xfrm>
          <a:prstGeom prst="rect">
            <a:avLst/>
          </a:prstGeom>
          <a:solidFill>
            <a:srgbClr val="FF2D8E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" y="548640"/>
            <a:ext cx="11091672" cy="4892040"/>
          </a:xfrm>
          <a:prstGeom prst="rect">
            <a:avLst/>
          </a:prstGeom>
          <a:solidFill>
            <a:srgbClr val="242127"/>
          </a:solidFill>
          <a:ln w="31750">
            <a:solidFill>
              <a:srgbClr val="0A0A0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548640"/>
            <a:ext cx="11091672" cy="4892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300" kern="0" dirty="0">
                <a:solidFill>
                  <a:srgbClr val="8A84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FULL-BLEED IMAGE HERE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57607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7F5F6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Caption or key takeaway for the image goes on this line.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118311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A84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06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84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COLLEGE FLAG SHOWCASE SERIES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0080"/>
            <a:ext cx="18288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0" b="1" dirty="0">
                <a:solidFill>
                  <a:srgbClr val="FF2D8E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“</a:t>
            </a:r>
            <a:endParaRPr lang="en-US" sz="14000" dirty="0"/>
          </a:p>
        </p:txBody>
      </p:sp>
      <p:sp>
        <p:nvSpPr>
          <p:cNvPr id="3" name="Text 1"/>
          <p:cNvSpPr/>
          <p:nvPr/>
        </p:nvSpPr>
        <p:spPr>
          <a:xfrm>
            <a:off x="1554480" y="1920240"/>
            <a:ext cx="93268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800" b="1" dirty="0">
                <a:solidFill>
                  <a:srgbClr val="0A0A0B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The quote goes here — keep it to two or three lines so it stays big and readable.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1554480" y="4572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5C5A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NAME  ·  ROLE OR PROGRAM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118311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5C5A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5C5A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COLLEGE FLAG SHOWCASE SERIES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16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432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1148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54864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7373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FF2D8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PACK · FOR INVESTORS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2240280"/>
            <a:ext cx="11155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7F5F6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Investor Pages.</a:t>
            </a:r>
            <a:endParaRPr lang="en-US" sz="6400" dirty="0"/>
          </a:p>
        </p:txBody>
      </p:sp>
      <p:sp>
        <p:nvSpPr>
          <p:cNvPr id="8" name="Text 6"/>
          <p:cNvSpPr/>
          <p:nvPr/>
        </p:nvSpPr>
        <p:spPr>
          <a:xfrm>
            <a:off x="548640" y="393192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848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Navy, data-forward layouts: opportunity, traction, and the ask. Numbers carry these slides — verify every figure before presenting.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18311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A84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08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84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COLLEGE FLAG SHOWCASE SERIES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16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432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1148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54864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4114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2D8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OPPORTUNITY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7F5F6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Market Slide Title.</a:t>
            </a:r>
            <a:endParaRPr lang="en-US" sz="4000" dirty="0"/>
          </a:p>
        </p:txBody>
      </p:sp>
      <p:sp>
        <p:nvSpPr>
          <p:cNvPr id="8" name="Text 6"/>
          <p:cNvSpPr/>
          <p:nvPr/>
        </p:nvSpPr>
        <p:spPr>
          <a:xfrm>
            <a:off x="548640" y="2103120"/>
            <a:ext cx="512064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0" b="1" dirty="0">
                <a:solidFill>
                  <a:srgbClr val="FF2D8E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90+</a:t>
            </a:r>
            <a:endParaRPr lang="en-US" sz="15000" dirty="0"/>
          </a:p>
        </p:txBody>
      </p:sp>
      <p:sp>
        <p:nvSpPr>
          <p:cNvPr id="9" name="Text 7"/>
          <p:cNvSpPr/>
          <p:nvPr/>
        </p:nvSpPr>
        <p:spPr>
          <a:xfrm>
            <a:off x="594360" y="420624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7F5F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HEADLINE STAT LABEL — e.g. college programs playing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583680" y="2148840"/>
            <a:ext cx="5029200" cy="1005840"/>
          </a:xfrm>
          <a:prstGeom prst="rect">
            <a:avLst/>
          </a:prstGeom>
          <a:solidFill>
            <a:srgbClr val="0A0A0B"/>
          </a:solidFill>
          <a:ln w="19050">
            <a:solidFill>
              <a:srgbClr val="2421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0" y="231343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DC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LA28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8503920" y="24688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F5F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OLYMPIC DEBUT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583680" y="3383280"/>
            <a:ext cx="5029200" cy="1005840"/>
          </a:xfrm>
          <a:prstGeom prst="rect">
            <a:avLst/>
          </a:prstGeom>
          <a:solidFill>
            <a:srgbClr val="0A0A0B"/>
          </a:solidFill>
          <a:ln w="19050">
            <a:solidFill>
              <a:srgbClr val="24212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858000" y="354787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DC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NCAA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8503920" y="370332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F5F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EMERGING SPORT, 2026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583680" y="4617720"/>
            <a:ext cx="5029200" cy="1005840"/>
          </a:xfrm>
          <a:prstGeom prst="rect">
            <a:avLst/>
          </a:prstGeom>
          <a:solidFill>
            <a:srgbClr val="0A0A0B"/>
          </a:solidFill>
          <a:ln w="19050">
            <a:solidFill>
              <a:srgbClr val="24212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0" y="4782312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8DC1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2028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8503920" y="493776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7F5F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FIRST POWER FOUR VARSITY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118311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A84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09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84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COLLEGE FLAG SHOWCASE SERIES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16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432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1148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54864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4114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2D8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TRACTION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7F5F6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Traction Slide Title.</a:t>
            </a:r>
            <a:endParaRPr lang="en-US" sz="4000" dirty="0"/>
          </a:p>
        </p:txBody>
      </p:sp>
      <p:sp>
        <p:nvSpPr>
          <p:cNvPr id="8" name="Shape 6"/>
          <p:cNvSpPr/>
          <p:nvPr/>
        </p:nvSpPr>
        <p:spPr>
          <a:xfrm>
            <a:off x="548640" y="2103120"/>
            <a:ext cx="4023360" cy="1097280"/>
          </a:xfrm>
          <a:prstGeom prst="rect">
            <a:avLst/>
          </a:prstGeom>
          <a:solidFill>
            <a:srgbClr val="0A0A0B"/>
          </a:solidFill>
          <a:ln w="19050">
            <a:solidFill>
              <a:srgbClr val="2421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24028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2D8E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VALUE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2651760" y="246888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7F5F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METRIC LABEL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48640" y="3429000"/>
            <a:ext cx="4023360" cy="1097280"/>
          </a:xfrm>
          <a:prstGeom prst="rect">
            <a:avLst/>
          </a:prstGeom>
          <a:solidFill>
            <a:srgbClr val="0A0A0B"/>
          </a:solidFill>
          <a:ln w="19050">
            <a:solidFill>
              <a:srgbClr val="2421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56616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2D8E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VALUE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2651760" y="37947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7F5F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METRIC LABEL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4754880"/>
            <a:ext cx="4023360" cy="1097280"/>
          </a:xfrm>
          <a:prstGeom prst="rect">
            <a:avLst/>
          </a:prstGeom>
          <a:solidFill>
            <a:srgbClr val="0A0A0B"/>
          </a:solidFill>
          <a:ln w="19050">
            <a:solidFill>
              <a:srgbClr val="2421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892040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2D8E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VALUE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2651760" y="512064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F7F5F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METRIC LABEL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294376" y="2185416"/>
            <a:ext cx="6400800" cy="3977640"/>
          </a:xfrm>
          <a:prstGeom prst="rect">
            <a:avLst/>
          </a:prstGeom>
          <a:solidFill>
            <a:srgbClr val="FF2D8E"/>
          </a:solidFill>
          <a:ln/>
        </p:spPr>
      </p:sp>
      <p:sp>
        <p:nvSpPr>
          <p:cNvPr id="18" name="Shape 16"/>
          <p:cNvSpPr/>
          <p:nvPr/>
        </p:nvSpPr>
        <p:spPr>
          <a:xfrm>
            <a:off x="5212080" y="2103120"/>
            <a:ext cx="6400800" cy="3977640"/>
          </a:xfrm>
          <a:prstGeom prst="rect">
            <a:avLst/>
          </a:prstGeom>
          <a:solidFill>
            <a:srgbClr val="242127"/>
          </a:solidFill>
          <a:ln w="31750">
            <a:solidFill>
              <a:srgbClr val="24212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212080" y="2103120"/>
            <a:ext cx="6400800" cy="3977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8A84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GROWTH CHART HERE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118311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A84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10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84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COLLEGE FLAG SHOWCASE SERIES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16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432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1148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54864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4114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2D8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THE ASK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1371600"/>
            <a:ext cx="64008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0" b="1" dirty="0">
                <a:solidFill>
                  <a:srgbClr val="FF2D8E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$X.XM</a:t>
            </a:r>
            <a:endParaRPr lang="en-US" sz="12000" dirty="0"/>
          </a:p>
        </p:txBody>
      </p:sp>
      <p:sp>
        <p:nvSpPr>
          <p:cNvPr id="8" name="Text 6"/>
          <p:cNvSpPr/>
          <p:nvPr/>
        </p:nvSpPr>
        <p:spPr>
          <a:xfrm>
            <a:off x="548640" y="32918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7F5F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WHAT THE RAISE IS FOR — ONE LINE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411480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7F5F6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Use of funds one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840480" y="4169664"/>
            <a:ext cx="7315200" cy="274320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11" name="Shape 9"/>
          <p:cNvSpPr/>
          <p:nvPr/>
        </p:nvSpPr>
        <p:spPr>
          <a:xfrm>
            <a:off x="3840480" y="4169664"/>
            <a:ext cx="5486400" cy="274320"/>
          </a:xfrm>
          <a:prstGeom prst="rect">
            <a:avLst/>
          </a:prstGeom>
          <a:solidFill>
            <a:srgbClr val="FF2D8E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484632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7F5F6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Use of funds two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840480" y="4901184"/>
            <a:ext cx="7315200" cy="274320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14" name="Shape 12"/>
          <p:cNvSpPr/>
          <p:nvPr/>
        </p:nvSpPr>
        <p:spPr>
          <a:xfrm>
            <a:off x="3840480" y="4901184"/>
            <a:ext cx="3657600" cy="274320"/>
          </a:xfrm>
          <a:prstGeom prst="rect">
            <a:avLst/>
          </a:prstGeom>
          <a:solidFill>
            <a:srgbClr val="FF2D8E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55778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7F5F6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Use of funds three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840480" y="5632704"/>
            <a:ext cx="7315200" cy="274320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17" name="Shape 15"/>
          <p:cNvSpPr/>
          <p:nvPr/>
        </p:nvSpPr>
        <p:spPr>
          <a:xfrm>
            <a:off x="3840480" y="5632704"/>
            <a:ext cx="2194560" cy="274320"/>
          </a:xfrm>
          <a:prstGeom prst="rect">
            <a:avLst/>
          </a:prstGeom>
          <a:solidFill>
            <a:srgbClr val="FF2D8E"/>
          </a:solidFill>
          <a:ln/>
        </p:spPr>
      </p:sp>
      <p:sp>
        <p:nvSpPr>
          <p:cNvPr id="18" name="Text 16"/>
          <p:cNvSpPr/>
          <p:nvPr/>
        </p:nvSpPr>
        <p:spPr>
          <a:xfrm>
            <a:off x="1118311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A84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11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84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COLLEGE FLAG SHOWCASE SERIES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16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432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1148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54864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7373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FF2D8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PACK · FOR BRAND PARTNERS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2240280"/>
            <a:ext cx="11155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7F5F6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Partnership Pages.</a:t>
            </a:r>
            <a:endParaRPr lang="en-US" sz="6400" dirty="0"/>
          </a:p>
        </p:txBody>
      </p:sp>
      <p:sp>
        <p:nvSpPr>
          <p:cNvPr id="8" name="Text 6"/>
          <p:cNvSpPr/>
          <p:nvPr/>
        </p:nvSpPr>
        <p:spPr>
          <a:xfrm>
            <a:off x="548640" y="393192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848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Pink-forward layouts: tiers, audience reach, and activation. Built to show a brand exactly what they get on the field.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18311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A84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12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84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COLLEGE FLAG SHOWCASE SERIES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2D8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PARTNERSHIP PACKAGES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0A0B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Tiers Slide Title.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30936" y="2093976"/>
            <a:ext cx="3566160" cy="4114800"/>
          </a:xfrm>
          <a:prstGeom prst="rect">
            <a:avLst/>
          </a:prstGeom>
          <a:solidFill>
            <a:srgbClr val="0A0A0B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011680"/>
            <a:ext cx="3566160" cy="4114800"/>
          </a:xfrm>
          <a:prstGeom prst="rect">
            <a:avLst/>
          </a:prstGeom>
          <a:solidFill>
            <a:srgbClr val="FFFFFF"/>
          </a:solidFill>
          <a:ln w="31750">
            <a:solidFill>
              <a:srgbClr val="0A0A0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2011680"/>
            <a:ext cx="3566160" cy="594360"/>
          </a:xfrm>
          <a:prstGeom prst="rect">
            <a:avLst/>
          </a:prstGeom>
          <a:solidFill>
            <a:srgbClr val="0A0A0B"/>
          </a:solidFill>
          <a:ln w="25400">
            <a:solidFill>
              <a:srgbClr val="0A0A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12140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TIER NAME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" y="27889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2D8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$X,XXX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" y="347472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C5A5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What this tier includes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C5A5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Second inclusion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5C5A5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Third inclusion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25696" y="2093976"/>
            <a:ext cx="3566160" cy="4114800"/>
          </a:xfrm>
          <a:prstGeom prst="rect">
            <a:avLst/>
          </a:prstGeom>
          <a:solidFill>
            <a:srgbClr val="FF2D8E"/>
          </a:solidFill>
          <a:ln/>
        </p:spPr>
      </p:sp>
      <p:sp>
        <p:nvSpPr>
          <p:cNvPr id="11" name="Shape 9"/>
          <p:cNvSpPr/>
          <p:nvPr/>
        </p:nvSpPr>
        <p:spPr>
          <a:xfrm>
            <a:off x="4343400" y="2011680"/>
            <a:ext cx="3566160" cy="4114800"/>
          </a:xfrm>
          <a:prstGeom prst="rect">
            <a:avLst/>
          </a:prstGeom>
          <a:solidFill>
            <a:srgbClr val="FFFFFF"/>
          </a:solidFill>
          <a:ln w="31750">
            <a:solidFill>
              <a:srgbClr val="0A0A0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343400" y="2011680"/>
            <a:ext cx="3566160" cy="594360"/>
          </a:xfrm>
          <a:prstGeom prst="rect">
            <a:avLst/>
          </a:prstGeom>
          <a:solidFill>
            <a:srgbClr val="FF2D8E"/>
          </a:solidFill>
          <a:ln w="25400">
            <a:solidFill>
              <a:srgbClr val="FF2D8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0" y="212140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FEATURED TIER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617720" y="27889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2D8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$X,XXX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4617720" y="347472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C5A5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What this tier includes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C5A5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Second inclusion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5C5A5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Third inclusion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220456" y="2093976"/>
            <a:ext cx="3566160" cy="4114800"/>
          </a:xfrm>
          <a:prstGeom prst="rect">
            <a:avLst/>
          </a:prstGeom>
          <a:solidFill>
            <a:srgbClr val="0A0A0B"/>
          </a:solidFill>
          <a:ln/>
        </p:spPr>
      </p:sp>
      <p:sp>
        <p:nvSpPr>
          <p:cNvPr id="17" name="Shape 15"/>
          <p:cNvSpPr/>
          <p:nvPr/>
        </p:nvSpPr>
        <p:spPr>
          <a:xfrm>
            <a:off x="8138160" y="2011680"/>
            <a:ext cx="3566160" cy="4114800"/>
          </a:xfrm>
          <a:prstGeom prst="rect">
            <a:avLst/>
          </a:prstGeom>
          <a:solidFill>
            <a:srgbClr val="FFFFFF"/>
          </a:solidFill>
          <a:ln w="31750">
            <a:solidFill>
              <a:srgbClr val="0A0A0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138160" y="2011680"/>
            <a:ext cx="3566160" cy="594360"/>
          </a:xfrm>
          <a:prstGeom prst="rect">
            <a:avLst/>
          </a:prstGeom>
          <a:solidFill>
            <a:srgbClr val="0A0A0B"/>
          </a:solidFill>
          <a:ln w="25400">
            <a:solidFill>
              <a:srgbClr val="0A0A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412480" y="2121408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TIER NAME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8412480" y="278892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2D8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$X,XXX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8412480" y="3474720"/>
            <a:ext cx="30175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C5A5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What this tier includes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C5A5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Second inclusion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5C5A5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Third inclusion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18311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5C5A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13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5C5A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COLLEGE FLAG SHOWCASE SERIES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2D8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AUDIENCE &amp; REACH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0A0B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Reach Slide Title.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30936" y="2093976"/>
            <a:ext cx="2606040" cy="1737360"/>
          </a:xfrm>
          <a:prstGeom prst="rect">
            <a:avLst/>
          </a:prstGeom>
          <a:solidFill>
            <a:srgbClr val="0A0A0B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011680"/>
            <a:ext cx="2606040" cy="1737360"/>
          </a:xfrm>
          <a:prstGeom prst="rect">
            <a:avLst/>
          </a:prstGeom>
          <a:solidFill>
            <a:srgbClr val="FFFFFF"/>
          </a:solidFill>
          <a:ln w="31750">
            <a:solidFill>
              <a:srgbClr val="0A0A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24028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2D8E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STAT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777240" y="31089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C5A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AUDIENCE METRIC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483864" y="2093976"/>
            <a:ext cx="2606040" cy="1737360"/>
          </a:xfrm>
          <a:prstGeom prst="rect">
            <a:avLst/>
          </a:prstGeom>
          <a:solidFill>
            <a:srgbClr val="0A0A0B"/>
          </a:solidFill>
          <a:ln/>
        </p:spPr>
      </p:sp>
      <p:sp>
        <p:nvSpPr>
          <p:cNvPr id="9" name="Shape 7"/>
          <p:cNvSpPr/>
          <p:nvPr/>
        </p:nvSpPr>
        <p:spPr>
          <a:xfrm>
            <a:off x="3401568" y="2011680"/>
            <a:ext cx="2606040" cy="1737360"/>
          </a:xfrm>
          <a:prstGeom prst="rect">
            <a:avLst/>
          </a:prstGeom>
          <a:solidFill>
            <a:srgbClr val="FFFFFF"/>
          </a:solidFill>
          <a:ln w="31750">
            <a:solidFill>
              <a:srgbClr val="0A0A0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30168" y="224028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2D8E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STAT</a:t>
            </a:r>
            <a:endParaRPr lang="en-US" sz="4000" dirty="0"/>
          </a:p>
        </p:txBody>
      </p:sp>
      <p:sp>
        <p:nvSpPr>
          <p:cNvPr id="11" name="Text 9"/>
          <p:cNvSpPr/>
          <p:nvPr/>
        </p:nvSpPr>
        <p:spPr>
          <a:xfrm>
            <a:off x="3630168" y="31089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C5A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AUDIENCE METRIC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336792" y="2093976"/>
            <a:ext cx="2606040" cy="1737360"/>
          </a:xfrm>
          <a:prstGeom prst="rect">
            <a:avLst/>
          </a:prstGeom>
          <a:solidFill>
            <a:srgbClr val="0A0A0B"/>
          </a:solidFill>
          <a:ln/>
        </p:spPr>
      </p:sp>
      <p:sp>
        <p:nvSpPr>
          <p:cNvPr id="13" name="Shape 11"/>
          <p:cNvSpPr/>
          <p:nvPr/>
        </p:nvSpPr>
        <p:spPr>
          <a:xfrm>
            <a:off x="6254496" y="2011680"/>
            <a:ext cx="2606040" cy="1737360"/>
          </a:xfrm>
          <a:prstGeom prst="rect">
            <a:avLst/>
          </a:prstGeom>
          <a:solidFill>
            <a:srgbClr val="FFFFFF"/>
          </a:solidFill>
          <a:ln w="31750">
            <a:solidFill>
              <a:srgbClr val="0A0A0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83096" y="224028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2D8E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STAT</a:t>
            </a:r>
            <a:endParaRPr lang="en-US" sz="4000" dirty="0"/>
          </a:p>
        </p:txBody>
      </p:sp>
      <p:sp>
        <p:nvSpPr>
          <p:cNvPr id="15" name="Text 13"/>
          <p:cNvSpPr/>
          <p:nvPr/>
        </p:nvSpPr>
        <p:spPr>
          <a:xfrm>
            <a:off x="6483096" y="31089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C5A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AUDIENCE METRIC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9189720" y="2093976"/>
            <a:ext cx="2606040" cy="1737360"/>
          </a:xfrm>
          <a:prstGeom prst="rect">
            <a:avLst/>
          </a:prstGeom>
          <a:solidFill>
            <a:srgbClr val="0A0A0B"/>
          </a:solidFill>
          <a:ln/>
        </p:spPr>
      </p:sp>
      <p:sp>
        <p:nvSpPr>
          <p:cNvPr id="17" name="Shape 15"/>
          <p:cNvSpPr/>
          <p:nvPr/>
        </p:nvSpPr>
        <p:spPr>
          <a:xfrm>
            <a:off x="9107424" y="2011680"/>
            <a:ext cx="2606040" cy="1737360"/>
          </a:xfrm>
          <a:prstGeom prst="rect">
            <a:avLst/>
          </a:prstGeom>
          <a:solidFill>
            <a:srgbClr val="FFFFFF"/>
          </a:solidFill>
          <a:ln w="31750">
            <a:solidFill>
              <a:srgbClr val="0A0A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36024" y="224028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2D8E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STAT</a:t>
            </a:r>
            <a:endParaRPr lang="en-US" sz="4000" dirty="0"/>
          </a:p>
        </p:txBody>
      </p:sp>
      <p:sp>
        <p:nvSpPr>
          <p:cNvPr id="19" name="Text 17"/>
          <p:cNvSpPr/>
          <p:nvPr/>
        </p:nvSpPr>
        <p:spPr>
          <a:xfrm>
            <a:off x="9336024" y="31089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C5A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AUDIENCE METRIC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30936" y="4242816"/>
            <a:ext cx="11091672" cy="1828800"/>
          </a:xfrm>
          <a:prstGeom prst="rect">
            <a:avLst/>
          </a:prstGeom>
          <a:solidFill>
            <a:srgbClr val="FF2D8E"/>
          </a:solidFill>
          <a:ln/>
        </p:spPr>
      </p:sp>
      <p:sp>
        <p:nvSpPr>
          <p:cNvPr id="21" name="Shape 19"/>
          <p:cNvSpPr/>
          <p:nvPr/>
        </p:nvSpPr>
        <p:spPr>
          <a:xfrm>
            <a:off x="548640" y="4160520"/>
            <a:ext cx="11091672" cy="1828800"/>
          </a:xfrm>
          <a:prstGeom prst="rect">
            <a:avLst/>
          </a:prstGeom>
          <a:solidFill>
            <a:srgbClr val="FFFFFF"/>
          </a:solidFill>
          <a:ln w="31750">
            <a:solidFill>
              <a:srgbClr val="0A0A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4160520"/>
            <a:ext cx="11091672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5C5A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BRAND PLACEMENT MOCKUP OR EVENT PHOTO STRIP HERE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118311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5C5A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14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5C5A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COLLEGE FLAG SHOWCASE SERIES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2D8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ON-SITE ACTIVATION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0A0B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Activation Slide Title.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548640" y="2148840"/>
            <a:ext cx="347472" cy="347472"/>
          </a:xfrm>
          <a:prstGeom prst="rect">
            <a:avLst/>
          </a:prstGeom>
          <a:solidFill>
            <a:srgbClr val="FF2D8E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130552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✓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97280" y="211226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First activation placement or benefit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355080" y="2148840"/>
            <a:ext cx="347472" cy="347472"/>
          </a:xfrm>
          <a:prstGeom prst="rect">
            <a:avLst/>
          </a:prstGeom>
          <a:solidFill>
            <a:srgbClr val="FF2D8E"/>
          </a:solidFill>
          <a:ln/>
        </p:spPr>
      </p:sp>
      <p:sp>
        <p:nvSpPr>
          <p:cNvPr id="8" name="Text 6"/>
          <p:cNvSpPr/>
          <p:nvPr/>
        </p:nvSpPr>
        <p:spPr>
          <a:xfrm>
            <a:off x="6355080" y="2130552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✓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6903720" y="211226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Second activation placement or benefit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548640" y="3108960"/>
            <a:ext cx="347472" cy="347472"/>
          </a:xfrm>
          <a:prstGeom prst="rect">
            <a:avLst/>
          </a:prstGeom>
          <a:solidFill>
            <a:srgbClr val="FF2D8E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090672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✓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307238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Third activation placement or benefit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355080" y="3108960"/>
            <a:ext cx="347472" cy="347472"/>
          </a:xfrm>
          <a:prstGeom prst="rect">
            <a:avLst/>
          </a:prstGeom>
          <a:solidFill>
            <a:srgbClr val="FF2D8E"/>
          </a:solidFill>
          <a:ln/>
        </p:spPr>
      </p:sp>
      <p:sp>
        <p:nvSpPr>
          <p:cNvPr id="14" name="Text 12"/>
          <p:cNvSpPr/>
          <p:nvPr/>
        </p:nvSpPr>
        <p:spPr>
          <a:xfrm>
            <a:off x="6355080" y="3090672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903720" y="307238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Fourth activation placement or benefit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548640" y="4069080"/>
            <a:ext cx="347472" cy="347472"/>
          </a:xfrm>
          <a:prstGeom prst="rect">
            <a:avLst/>
          </a:prstGeom>
          <a:solidFill>
            <a:srgbClr val="FF2D8E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050792"/>
            <a:ext cx="3474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✓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97280" y="4032504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A0A0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Fifth activation placement or benefit</a:t>
            </a:r>
            <a:endParaRPr lang="en-US" sz="1500" dirty="0"/>
          </a:p>
        </p:txBody>
      </p:sp>
      <p:sp>
        <p:nvSpPr>
          <p:cNvPr id="19" name="Shape 17"/>
          <p:cNvSpPr/>
          <p:nvPr/>
        </p:nvSpPr>
        <p:spPr>
          <a:xfrm>
            <a:off x="548640" y="5212080"/>
            <a:ext cx="11091672" cy="914400"/>
          </a:xfrm>
          <a:prstGeom prst="rect">
            <a:avLst/>
          </a:prstGeom>
          <a:solidFill>
            <a:srgbClr val="FF2D8E"/>
          </a:solidFill>
          <a:ln/>
        </p:spPr>
      </p:sp>
      <p:sp>
        <p:nvSpPr>
          <p:cNvPr id="20" name="Text 18"/>
          <p:cNvSpPr/>
          <p:nvPr/>
        </p:nvSpPr>
        <p:spPr>
          <a:xfrm>
            <a:off x="822960" y="521208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PUT YOUR BRAND ON THE FIELD.   </a:t>
            </a:r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INFO@COLLEGEFLAGSHOWCASE.COM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118311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5C5A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15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5C5A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COLLEGE FLAG SHOWCASE SERIES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16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432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1148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54864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173736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500" kern="0" dirty="0">
                <a:solidFill>
                  <a:srgbClr val="FF2D8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PACK · FOR EDUCATION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2240280"/>
            <a:ext cx="11155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7F5F6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Education Pages.</a:t>
            </a:r>
            <a:endParaRPr lang="en-US" sz="6400" dirty="0"/>
          </a:p>
        </p:txBody>
      </p:sp>
      <p:sp>
        <p:nvSpPr>
          <p:cNvPr id="8" name="Text 6"/>
          <p:cNvSpPr/>
          <p:nvPr/>
        </p:nvSpPr>
        <p:spPr>
          <a:xfrm>
            <a:off x="548640" y="3931920"/>
            <a:ext cx="9601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8A848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Chalk, explanatory layouts: how the weekend works, step-by-step processes, and Q&amp;A. Built for parents, teams, and newcomers to the sport.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118311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A84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16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84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COLLEGE FLAG SHOWCASE SERIES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7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2D8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HOW AN EVENT WORKS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0A0B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One Weekend, Two Ways to Get Seen.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30936" y="2093976"/>
            <a:ext cx="5257800" cy="3931920"/>
          </a:xfrm>
          <a:prstGeom prst="rect">
            <a:avLst/>
          </a:prstGeom>
          <a:solidFill>
            <a:srgbClr val="0A0A0B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011680"/>
            <a:ext cx="5257800" cy="3931920"/>
          </a:xfrm>
          <a:prstGeom prst="rect">
            <a:avLst/>
          </a:prstGeom>
          <a:solidFill>
            <a:srgbClr val="FFFFFF"/>
          </a:solidFill>
          <a:ln w="31750">
            <a:solidFill>
              <a:srgbClr val="0A0A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68680" y="22860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F2D8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54480" y="2231136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0A0B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Showcase Combine &amp; Camp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68680" y="2834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C5A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INDIVIDUAL · OPEN REGISTRATION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68680" y="3291840"/>
            <a:ext cx="4617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A0A0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Each athlete's chance to stand out individually — position-specific skill work and 1v1s in front of college coaches, plus combine testing measured by trained staff and on the record.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437376" y="2093976"/>
            <a:ext cx="5257800" cy="3931920"/>
          </a:xfrm>
          <a:prstGeom prst="rect">
            <a:avLst/>
          </a:prstGeom>
          <a:solidFill>
            <a:srgbClr val="0A0A0B"/>
          </a:solidFill>
          <a:ln/>
        </p:spPr>
      </p:sp>
      <p:sp>
        <p:nvSpPr>
          <p:cNvPr id="11" name="Shape 9"/>
          <p:cNvSpPr/>
          <p:nvPr/>
        </p:nvSpPr>
        <p:spPr>
          <a:xfrm>
            <a:off x="6355080" y="2011680"/>
            <a:ext cx="5257800" cy="3931920"/>
          </a:xfrm>
          <a:prstGeom prst="rect">
            <a:avLst/>
          </a:prstGeom>
          <a:solidFill>
            <a:srgbClr val="FFFFFF"/>
          </a:solidFill>
          <a:ln w="31750">
            <a:solidFill>
              <a:srgbClr val="0A0A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5120" y="2286000"/>
            <a:ext cx="822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F2D8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02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7360920" y="2231136"/>
            <a:ext cx="4023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A0A0B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Showcase Tournament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6675120" y="2834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5C5A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TEAM · INVITED TEAMS ONLY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675120" y="3291840"/>
            <a:ext cx="4617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0A0A0B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5v5 competition against a curated field of travel programs. College coaches evaluate live from the sideline, and every game is filmed for college evaluation.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118311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5C5A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17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5C5A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COLLEGE FLAG SHOWCASE SERIES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7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400" kern="0" dirty="0">
                <a:solidFill>
                  <a:srgbClr val="FF2D8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STEP BY STEP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02920" y="7772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A0A0B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Process Slide Title.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30936" y="2368296"/>
            <a:ext cx="2468880" cy="3108960"/>
          </a:xfrm>
          <a:prstGeom prst="rect">
            <a:avLst/>
          </a:prstGeom>
          <a:solidFill>
            <a:srgbClr val="0A0A0B"/>
          </a:solidFill>
          <a:ln/>
        </p:spPr>
      </p:sp>
      <p:sp>
        <p:nvSpPr>
          <p:cNvPr id="5" name="Shape 3"/>
          <p:cNvSpPr/>
          <p:nvPr/>
        </p:nvSpPr>
        <p:spPr>
          <a:xfrm>
            <a:off x="548640" y="2286000"/>
            <a:ext cx="2468880" cy="3108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A0A0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256032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2D8E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01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804672" y="32918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0A0B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Step title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804672" y="379476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5A5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One or two sentences describing this step.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3035808" y="35661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2D8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→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3483864" y="2368296"/>
            <a:ext cx="2468880" cy="3108960"/>
          </a:xfrm>
          <a:prstGeom prst="rect">
            <a:avLst/>
          </a:prstGeom>
          <a:solidFill>
            <a:srgbClr val="0A0A0B"/>
          </a:solidFill>
          <a:ln/>
        </p:spPr>
      </p:sp>
      <p:sp>
        <p:nvSpPr>
          <p:cNvPr id="11" name="Shape 9"/>
          <p:cNvSpPr/>
          <p:nvPr/>
        </p:nvSpPr>
        <p:spPr>
          <a:xfrm>
            <a:off x="3401568" y="2286000"/>
            <a:ext cx="2468880" cy="3108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A0A0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0" y="256032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2D8E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02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3657600" y="32918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0A0B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Step title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3657600" y="379476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5A5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One or two sentences describing this step.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88736" y="35661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2D8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→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6336792" y="2368296"/>
            <a:ext cx="2468880" cy="3108960"/>
          </a:xfrm>
          <a:prstGeom prst="rect">
            <a:avLst/>
          </a:prstGeom>
          <a:solidFill>
            <a:srgbClr val="0A0A0B"/>
          </a:solidFill>
          <a:ln/>
        </p:spPr>
      </p:sp>
      <p:sp>
        <p:nvSpPr>
          <p:cNvPr id="17" name="Shape 15"/>
          <p:cNvSpPr/>
          <p:nvPr/>
        </p:nvSpPr>
        <p:spPr>
          <a:xfrm>
            <a:off x="6254496" y="2286000"/>
            <a:ext cx="2468880" cy="3108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A0A0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10528" y="256032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2D8E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03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6510528" y="32918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0A0B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Step title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510528" y="379476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5A5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One or two sentences describing this step.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741664" y="3566160"/>
            <a:ext cx="45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2D8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→</a:t>
            </a:r>
            <a:endParaRPr lang="en-US" sz="2400" dirty="0"/>
          </a:p>
        </p:txBody>
      </p:sp>
      <p:sp>
        <p:nvSpPr>
          <p:cNvPr id="22" name="Shape 20"/>
          <p:cNvSpPr/>
          <p:nvPr/>
        </p:nvSpPr>
        <p:spPr>
          <a:xfrm>
            <a:off x="9189720" y="2368296"/>
            <a:ext cx="2468880" cy="3108960"/>
          </a:xfrm>
          <a:prstGeom prst="rect">
            <a:avLst/>
          </a:prstGeom>
          <a:solidFill>
            <a:srgbClr val="0A0A0B"/>
          </a:solidFill>
          <a:ln/>
        </p:spPr>
      </p:sp>
      <p:sp>
        <p:nvSpPr>
          <p:cNvPr id="23" name="Shape 21"/>
          <p:cNvSpPr/>
          <p:nvPr/>
        </p:nvSpPr>
        <p:spPr>
          <a:xfrm>
            <a:off x="9107424" y="2286000"/>
            <a:ext cx="2468880" cy="3108960"/>
          </a:xfrm>
          <a:prstGeom prst="rect">
            <a:avLst/>
          </a:prstGeom>
          <a:solidFill>
            <a:srgbClr val="FFFFFF"/>
          </a:solidFill>
          <a:ln w="31750">
            <a:solidFill>
              <a:srgbClr val="0A0A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363456" y="2560320"/>
            <a:ext cx="1280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2D8E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04</a:t>
            </a:r>
            <a:endParaRPr lang="en-US" sz="3400" dirty="0"/>
          </a:p>
        </p:txBody>
      </p:sp>
      <p:sp>
        <p:nvSpPr>
          <p:cNvPr id="25" name="Text 23"/>
          <p:cNvSpPr/>
          <p:nvPr/>
        </p:nvSpPr>
        <p:spPr>
          <a:xfrm>
            <a:off x="9363456" y="329184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A0A0B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Step title</a:t>
            </a:r>
            <a:endParaRPr lang="en-US" sz="1900" dirty="0"/>
          </a:p>
        </p:txBody>
      </p:sp>
      <p:sp>
        <p:nvSpPr>
          <p:cNvPr id="26" name="Text 24"/>
          <p:cNvSpPr/>
          <p:nvPr/>
        </p:nvSpPr>
        <p:spPr>
          <a:xfrm>
            <a:off x="9363456" y="3794760"/>
            <a:ext cx="20116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5A5E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One or two sentences describing this step.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118311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5C5A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18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5C5A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COLLEGE FLAG SHOWCASE SERIES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7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194560"/>
            <a:ext cx="111556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600" b="1" dirty="0">
                <a:solidFill>
                  <a:srgbClr val="0A0A0B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Questions.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1554480" y="41148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FF2D8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INFO@COLLEGEFLAGSHOWCASE.COM  ·  COLLEGEFLAGSHOWCASE.COM/FAQ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1118311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5C5A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19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5C5A5E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COLLEGE FLAG SHOWCASE SERIES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0A0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3716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27432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4" name="Shape 2"/>
          <p:cNvSpPr/>
          <p:nvPr/>
        </p:nvSpPr>
        <p:spPr>
          <a:xfrm>
            <a:off x="0" y="41148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sp>
        <p:nvSpPr>
          <p:cNvPr id="5" name="Shape 3"/>
          <p:cNvSpPr/>
          <p:nvPr/>
        </p:nvSpPr>
        <p:spPr>
          <a:xfrm>
            <a:off x="0" y="5486400"/>
            <a:ext cx="12188952" cy="18288"/>
          </a:xfrm>
          <a:prstGeom prst="rect">
            <a:avLst/>
          </a:prstGeom>
          <a:solidFill>
            <a:srgbClr val="242127"/>
          </a:solidFill>
          <a:ln/>
        </p:spPr>
      </p:sp>
      <p:pic>
        <p:nvPicPr>
          <p:cNvPr id="6" name="Image 0" descr="/home/user/cfs-web/collateral/slides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71516" y="777240"/>
            <a:ext cx="1645920" cy="16459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02920" y="2743200"/>
            <a:ext cx="11155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7F5F6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Ball Out. Get Seen. </a:t>
            </a:r>
            <a:pPr algn="ctr" indent="0" marL="0">
              <a:buNone/>
            </a:pPr>
            <a:r>
              <a:rPr lang="en-US" sz="5400" b="1" dirty="0">
                <a:solidFill>
                  <a:srgbClr val="FF2D8E"/>
                </a:solidFill>
                <a:latin typeface="Big Shoulders Display" pitchFamily="34" charset="0"/>
                <a:ea typeface="Big Shoulders Display" pitchFamily="34" charset="-122"/>
                <a:cs typeface="Big Shoulders Display" pitchFamily="34" charset="-120"/>
              </a:rPr>
              <a:t>Get Recruited.</a:t>
            </a:r>
            <a:endParaRPr lang="en-US" sz="5400" dirty="0"/>
          </a:p>
        </p:txBody>
      </p:sp>
      <p:sp>
        <p:nvSpPr>
          <p:cNvPr id="8" name="Text 5"/>
          <p:cNvSpPr/>
          <p:nvPr/>
        </p:nvSpPr>
        <p:spPr>
          <a:xfrm>
            <a:off x="1554480" y="40233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A848C"/>
                </a:solidFill>
                <a:latin typeface="Archivo" pitchFamily="34" charset="0"/>
                <a:ea typeface="Archivo" pitchFamily="34" charset="-122"/>
                <a:cs typeface="Archivo" pitchFamily="34" charset="-120"/>
              </a:rPr>
              <a:t>Closing line or call to action for this audience goes here.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1554480" y="54864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300" kern="0" dirty="0">
                <a:solidFill>
                  <a:srgbClr val="F7F5F6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INFO@COLLEGEFLAGSHOWCASE.COM  ·  COLLEGEFLAGSHOWCASE.COM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11183112" y="6355080"/>
            <a:ext cx="548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spc="300" kern="0" dirty="0">
                <a:solidFill>
                  <a:srgbClr val="8A84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20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48640" y="63550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A848C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COLLEGE FLAG SHOWCASE SERIES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2026-08-25T07:07:07Z</dcterms:created>
  <dcterms:modified xsi:type="dcterms:W3CDTF">2026-08-25T07:07:07Z</dcterms:modified>
</cp:coreProperties>
</file>